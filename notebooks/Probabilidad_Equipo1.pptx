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Frecuencia</c:v>
                </c:pt>
              </c:strCache>
            </c:strRef>
          </c:tx>
          <c:spPr>
            <a:solidFill>
              <a:srgbClr val="0E5C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&lt;1</c:v>
                  </c:pt>
                  <c:pt idx="1">
                    <c:v>1–3</c:v>
                  </c:pt>
                  <c:pt idx="2">
                    <c:v>3–5</c:v>
                  </c:pt>
                  <c:pt idx="3">
                    <c:v>5–7</c:v>
                  </c:pt>
                  <c:pt idx="4">
                    <c:v>7–9</c:v>
                  </c:pt>
                  <c:pt idx="5">
                    <c:v>9–11</c:v>
                  </c:pt>
                  <c:pt idx="6">
                    <c:v>11–13</c:v>
                  </c:pt>
                  <c:pt idx="7">
                    <c:v>&gt;13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</c:v>
                </c:pt>
                <c:pt idx="1">
                  <c:v>4</c:v>
                </c:pt>
                <c:pt idx="2">
                  <c:v>8</c:v>
                </c:pt>
                <c:pt idx="3">
                  <c:v>14</c:v>
                </c:pt>
                <c:pt idx="4">
                  <c:v>18</c:v>
                </c:pt>
                <c:pt idx="5">
                  <c:v>15</c:v>
                </c:pt>
                <c:pt idx="6">
                  <c:v>8</c:v>
                </c:pt>
                <c:pt idx="7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Densidad (KDE)</c:v>
                </c:pt>
              </c:strCache>
            </c:strRef>
          </c:tx>
          <c:spPr>
            <a:solidFill>
              <a:srgbClr val="C9542D"/>
            </a:solidFill>
            <a:ln w="38100" cap="flat">
              <a:solidFill>
                <a:srgbClr val="C954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9542D"/>
              </a:solidFill>
              <a:ln w="9525" cap="flat">
                <a:solidFill>
                  <a:srgbClr val="C9542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&lt;1</c:v>
                  </c:pt>
                  <c:pt idx="1">
                    <c:v>1–3</c:v>
                  </c:pt>
                  <c:pt idx="2">
                    <c:v>3–5</c:v>
                  </c:pt>
                  <c:pt idx="3">
                    <c:v>5–7</c:v>
                  </c:pt>
                  <c:pt idx="4">
                    <c:v>7–9</c:v>
                  </c:pt>
                  <c:pt idx="5">
                    <c:v>9–11</c:v>
                  </c:pt>
                  <c:pt idx="6">
                    <c:v>11–13</c:v>
                  </c:pt>
                  <c:pt idx="7">
                    <c:v>&gt;13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1.5</c:v>
                </c:pt>
                <c:pt idx="1">
                  <c:v>5</c:v>
                </c:pt>
                <c:pt idx="2">
                  <c:v>9</c:v>
                </c:pt>
                <c:pt idx="3">
                  <c:v>14</c:v>
                </c:pt>
                <c:pt idx="4">
                  <c:v>17</c:v>
                </c:pt>
                <c:pt idx="5">
                  <c:v>15</c:v>
                </c:pt>
                <c:pt idx="6">
                  <c:v>9</c:v>
                </c:pt>
                <c:pt idx="7">
                  <c:v>4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6B7682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6B7682"/>
                    </a:solidFill>
                    <a:latin typeface="Arial"/>
                  </a:rPr>
                  <a:t>Horas de uso de pantalla / día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520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  <c:min val="0"/>
        </c:scaling>
        <c:delete val="0"/>
        <c:axPos val="l"/>
        <c:majorGridlines>
          <c:spPr>
            <a:ln w="6350" cap="flat">
              <a:solidFill>
                <a:srgbClr val="D9CFB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6B7682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6B7682"/>
                    </a:solidFill>
                    <a:latin typeface="Arial"/>
                  </a:rPr>
                  <a:t>Número de estudiantes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5202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solidFill>
          <a:srgbClr val="FBF8F1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15202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BF8F1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Dispositivo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E5C5C"/>
              </a:solidFill>
              <a:ln w="25400" cap="flat">
                <a:solidFill>
                  <a:srgbClr val="FBF8F1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C9542D"/>
              </a:solidFill>
              <a:ln w="25400" cap="flat">
                <a:solidFill>
                  <a:srgbClr val="FBF8F1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B98A2E"/>
              </a:solidFill>
              <a:ln w="25400" cap="flat">
                <a:solidFill>
                  <a:srgbClr val="FBF8F1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6B8E7F"/>
              </a:solidFill>
              <a:ln w="25400" cap="flat">
                <a:solidFill>
                  <a:srgbClr val="FBF8F1"/>
                </a:solidFill>
                <a:prstDash val="solid"/>
                <a:round/>
              </a:ln>
              <a:effectLst/>
            </c:spPr>
          </c:dPt>
          <c:dPt>
            <c:idx val="4"/>
            <c:bubble3D val="0"/>
            <c:spPr>
              <a:solidFill>
                <a:srgbClr val="8A6E4B"/>
              </a:solidFill>
              <a:ln w="25400" cap="flat">
                <a:solidFill>
                  <a:srgbClr val="FBF8F1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Celular (47.9%)</c:v>
                </c:pt>
                <c:pt idx="1">
                  <c:v>Laptop (23.9%)</c:v>
                </c:pt>
                <c:pt idx="2">
                  <c:v>Comp. de escritorio (22.5%)</c:v>
                </c:pt>
                <c:pt idx="3">
                  <c:v>Tablet (4.2%)</c:v>
                </c:pt>
                <c:pt idx="4">
                  <c:v>Otro (1.4%)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34</c:v>
                </c:pt>
                <c:pt idx="1">
                  <c:v>17</c:v>
                </c:pt>
                <c:pt idx="2">
                  <c:v>16</c:v>
                </c:pt>
                <c:pt idx="3">
                  <c:v>3</c:v>
                </c:pt>
                <c:pt idx="4">
                  <c:v>1</c:v>
                </c:pt>
              </c:numCache>
            </c:numRef>
          </c:val>
        </c:ser>
        <c:firstSliceAng val="0"/>
        <c:holeSize val="42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15202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BF8F1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Estudiantes (n=71)</c:v>
                </c:pt>
              </c:strCache>
            </c:strRef>
          </c:tx>
          <c:spPr>
            <a:solidFill>
              <a:srgbClr val="0E5C5C"/>
            </a:solidFill>
            <a:ln>
              <a:noFill/>
            </a:ln>
            <a:effectLst/>
          </c:spPr>
          <c:marker>
            <c:symbol val="circle"/>
            <c:size val="6"/>
            <c:spPr>
              <a:solidFill>
                <a:srgbClr val="0E5C5C"/>
              </a:solidFill>
              <a:ln w="9525" cap="flat">
                <a:solidFill>
                  <a:srgbClr val="0E5C5C"/>
                </a:solidFill>
                <a:prstDash val="solid"/>
                <a:round/>
              </a:ln>
              <a:effectLst/>
            </c:spPr>
          </c:marker>
          <c:xVal>
            <c:numRef>
              <c:f>Sheet1!$A$2:$A$72</c:f>
              <c:numCache>
                <c:formatCode>General</c:formatCode>
                <c:ptCount val="71"/>
                <c:pt idx="0">
                  <c:v>2.1</c:v>
                </c:pt>
                <c:pt idx="1">
                  <c:v>2.12</c:v>
                </c:pt>
                <c:pt idx="2">
                  <c:v>2.34</c:v>
                </c:pt>
                <c:pt idx="3">
                  <c:v>2.7</c:v>
                </c:pt>
                <c:pt idx="4">
                  <c:v>2.72</c:v>
                </c:pt>
                <c:pt idx="5">
                  <c:v>3.1</c:v>
                </c:pt>
                <c:pt idx="6">
                  <c:v>3.11</c:v>
                </c:pt>
                <c:pt idx="7">
                  <c:v>3.15</c:v>
                </c:pt>
                <c:pt idx="8">
                  <c:v>3.16</c:v>
                </c:pt>
                <c:pt idx="9">
                  <c:v>3.53</c:v>
                </c:pt>
                <c:pt idx="10">
                  <c:v>3.68</c:v>
                </c:pt>
                <c:pt idx="11">
                  <c:v>3.69</c:v>
                </c:pt>
                <c:pt idx="12">
                  <c:v>3.91</c:v>
                </c:pt>
                <c:pt idx="13">
                  <c:v>4.16</c:v>
                </c:pt>
                <c:pt idx="14">
                  <c:v>4.65</c:v>
                </c:pt>
                <c:pt idx="15">
                  <c:v>5.01</c:v>
                </c:pt>
                <c:pt idx="16">
                  <c:v>5.22</c:v>
                </c:pt>
                <c:pt idx="17">
                  <c:v>5.26</c:v>
                </c:pt>
                <c:pt idx="18">
                  <c:v>5.29</c:v>
                </c:pt>
                <c:pt idx="19">
                  <c:v>5.31</c:v>
                </c:pt>
                <c:pt idx="20">
                  <c:v>5.42</c:v>
                </c:pt>
                <c:pt idx="21">
                  <c:v>5.78</c:v>
                </c:pt>
                <c:pt idx="22">
                  <c:v>6.26</c:v>
                </c:pt>
                <c:pt idx="23">
                  <c:v>7.03</c:v>
                </c:pt>
                <c:pt idx="24">
                  <c:v>7.45</c:v>
                </c:pt>
                <c:pt idx="25">
                  <c:v>7.75</c:v>
                </c:pt>
                <c:pt idx="26">
                  <c:v>7.77</c:v>
                </c:pt>
                <c:pt idx="27">
                  <c:v>7.82</c:v>
                </c:pt>
                <c:pt idx="28">
                  <c:v>8.15</c:v>
                </c:pt>
                <c:pt idx="29">
                  <c:v>8.16</c:v>
                </c:pt>
                <c:pt idx="30">
                  <c:v>8.18</c:v>
                </c:pt>
                <c:pt idx="31">
                  <c:v>8.22</c:v>
                </c:pt>
                <c:pt idx="32">
                  <c:v>8.31</c:v>
                </c:pt>
                <c:pt idx="33">
                  <c:v>8.31</c:v>
                </c:pt>
                <c:pt idx="34">
                  <c:v>8.39</c:v>
                </c:pt>
                <c:pt idx="35">
                  <c:v>8.42</c:v>
                </c:pt>
                <c:pt idx="36">
                  <c:v>8.57</c:v>
                </c:pt>
                <c:pt idx="37">
                  <c:v>8.84</c:v>
                </c:pt>
                <c:pt idx="38">
                  <c:v>8.87</c:v>
                </c:pt>
                <c:pt idx="39">
                  <c:v>8.92</c:v>
                </c:pt>
                <c:pt idx="40">
                  <c:v>8.94</c:v>
                </c:pt>
                <c:pt idx="41">
                  <c:v>8.98</c:v>
                </c:pt>
                <c:pt idx="42">
                  <c:v>9.39</c:v>
                </c:pt>
                <c:pt idx="43">
                  <c:v>9.66</c:v>
                </c:pt>
                <c:pt idx="44">
                  <c:v>9.77</c:v>
                </c:pt>
                <c:pt idx="45">
                  <c:v>9.85</c:v>
                </c:pt>
                <c:pt idx="46">
                  <c:v>10.44</c:v>
                </c:pt>
                <c:pt idx="47">
                  <c:v>10.74</c:v>
                </c:pt>
                <c:pt idx="48">
                  <c:v>11.14</c:v>
                </c:pt>
                <c:pt idx="49">
                  <c:v>11.2</c:v>
                </c:pt>
                <c:pt idx="50">
                  <c:v>11.24</c:v>
                </c:pt>
                <c:pt idx="51">
                  <c:v>11.41</c:v>
                </c:pt>
                <c:pt idx="52">
                  <c:v>11.48</c:v>
                </c:pt>
                <c:pt idx="53">
                  <c:v>12.04</c:v>
                </c:pt>
                <c:pt idx="54">
                  <c:v>12.32</c:v>
                </c:pt>
                <c:pt idx="55">
                  <c:v>12.34</c:v>
                </c:pt>
                <c:pt idx="56">
                  <c:v>12.46</c:v>
                </c:pt>
                <c:pt idx="57">
                  <c:v>12.51</c:v>
                </c:pt>
                <c:pt idx="58">
                  <c:v>12.82</c:v>
                </c:pt>
                <c:pt idx="59">
                  <c:v>13.02</c:v>
                </c:pt>
                <c:pt idx="60">
                  <c:v>13.63</c:v>
                </c:pt>
                <c:pt idx="61">
                  <c:v>13.63</c:v>
                </c:pt>
                <c:pt idx="62">
                  <c:v>14.38</c:v>
                </c:pt>
                <c:pt idx="63">
                  <c:v>14.55</c:v>
                </c:pt>
                <c:pt idx="64">
                  <c:v>14.68</c:v>
                </c:pt>
                <c:pt idx="65">
                  <c:v>15.37</c:v>
                </c:pt>
                <c:pt idx="66">
                  <c:v>15.43</c:v>
                </c:pt>
                <c:pt idx="67">
                  <c:v>15.56</c:v>
                </c:pt>
                <c:pt idx="68">
                  <c:v>15.8</c:v>
                </c:pt>
                <c:pt idx="69">
                  <c:v>15.86</c:v>
                </c:pt>
                <c:pt idx="70">
                  <c:v>15.87</c:v>
                </c:pt>
              </c:numCache>
            </c:numRef>
          </c:xVal>
          <c:yVal>
            <c:numRef>
              <c:f>Sheet1!$B$2:$B$72</c:f>
              <c:numCache>
                <c:formatCode>General</c:formatCode>
                <c:ptCount val="71"/>
                <c:pt idx="0">
                  <c:v>73.61</c:v>
                </c:pt>
                <c:pt idx="1">
                  <c:v>76.96</c:v>
                </c:pt>
                <c:pt idx="2">
                  <c:v>75.56</c:v>
                </c:pt>
                <c:pt idx="3">
                  <c:v>84.06</c:v>
                </c:pt>
                <c:pt idx="4">
                  <c:v>72.82</c:v>
                </c:pt>
                <c:pt idx="5">
                  <c:v>79.14</c:v>
                </c:pt>
                <c:pt idx="6">
                  <c:v>82.12</c:v>
                </c:pt>
                <c:pt idx="7">
                  <c:v>64.37</c:v>
                </c:pt>
                <c:pt idx="8">
                  <c:v>87.82</c:v>
                </c:pt>
                <c:pt idx="9">
                  <c:v>75.3</c:v>
                </c:pt>
                <c:pt idx="10">
                  <c:v>80.56</c:v>
                </c:pt>
                <c:pt idx="11">
                  <c:v>90.1</c:v>
                </c:pt>
                <c:pt idx="12">
                  <c:v>94.57</c:v>
                </c:pt>
                <c:pt idx="13">
                  <c:v>80.56</c:v>
                </c:pt>
                <c:pt idx="14">
                  <c:v>74.33</c:v>
                </c:pt>
                <c:pt idx="15">
                  <c:v>79.12</c:v>
                </c:pt>
                <c:pt idx="16">
                  <c:v>85.23</c:v>
                </c:pt>
                <c:pt idx="17">
                  <c:v>80.97</c:v>
                </c:pt>
                <c:pt idx="18">
                  <c:v>85.87</c:v>
                </c:pt>
                <c:pt idx="19">
                  <c:v>86.1</c:v>
                </c:pt>
                <c:pt idx="20">
                  <c:v>74.46</c:v>
                </c:pt>
                <c:pt idx="21">
                  <c:v>85.86</c:v>
                </c:pt>
                <c:pt idx="22">
                  <c:v>69.11</c:v>
                </c:pt>
                <c:pt idx="23">
                  <c:v>94.1</c:v>
                </c:pt>
                <c:pt idx="24">
                  <c:v>76.89</c:v>
                </c:pt>
                <c:pt idx="25">
                  <c:v>85.57</c:v>
                </c:pt>
                <c:pt idx="26">
                  <c:v>80.13</c:v>
                </c:pt>
                <c:pt idx="27">
                  <c:v>81.34</c:v>
                </c:pt>
                <c:pt idx="28">
                  <c:v>74.91</c:v>
                </c:pt>
                <c:pt idx="29">
                  <c:v>98.27</c:v>
                </c:pt>
                <c:pt idx="30">
                  <c:v>97.97</c:v>
                </c:pt>
                <c:pt idx="31">
                  <c:v>83.15</c:v>
                </c:pt>
                <c:pt idx="32">
                  <c:v>97.38</c:v>
                </c:pt>
                <c:pt idx="33">
                  <c:v>83.02</c:v>
                </c:pt>
                <c:pt idx="34">
                  <c:v>80.89</c:v>
                </c:pt>
                <c:pt idx="35">
                  <c:v>85.06</c:v>
                </c:pt>
                <c:pt idx="36">
                  <c:v>87.4</c:v>
                </c:pt>
                <c:pt idx="37">
                  <c:v>74.55</c:v>
                </c:pt>
                <c:pt idx="38">
                  <c:v>89.18</c:v>
                </c:pt>
                <c:pt idx="39">
                  <c:v>81.05</c:v>
                </c:pt>
                <c:pt idx="40">
                  <c:v>88.38</c:v>
                </c:pt>
                <c:pt idx="41">
                  <c:v>82.73</c:v>
                </c:pt>
                <c:pt idx="42">
                  <c:v>93.93</c:v>
                </c:pt>
                <c:pt idx="43">
                  <c:v>89.74</c:v>
                </c:pt>
                <c:pt idx="44">
                  <c:v>79.61</c:v>
                </c:pt>
                <c:pt idx="45">
                  <c:v>87.78</c:v>
                </c:pt>
                <c:pt idx="46">
                  <c:v>84.99</c:v>
                </c:pt>
                <c:pt idx="47">
                  <c:v>72.79</c:v>
                </c:pt>
                <c:pt idx="48">
                  <c:v>86.87</c:v>
                </c:pt>
                <c:pt idx="49">
                  <c:v>70.04</c:v>
                </c:pt>
                <c:pt idx="50">
                  <c:v>85.22</c:v>
                </c:pt>
                <c:pt idx="51">
                  <c:v>89.81</c:v>
                </c:pt>
                <c:pt idx="52">
                  <c:v>88.65</c:v>
                </c:pt>
                <c:pt idx="53">
                  <c:v>84.37</c:v>
                </c:pt>
                <c:pt idx="54">
                  <c:v>95.34</c:v>
                </c:pt>
                <c:pt idx="55">
                  <c:v>93.84</c:v>
                </c:pt>
                <c:pt idx="56">
                  <c:v>79.43</c:v>
                </c:pt>
                <c:pt idx="57">
                  <c:v>80.68</c:v>
                </c:pt>
                <c:pt idx="58">
                  <c:v>79.81</c:v>
                </c:pt>
                <c:pt idx="59">
                  <c:v>82.77</c:v>
                </c:pt>
                <c:pt idx="60">
                  <c:v>97.55</c:v>
                </c:pt>
                <c:pt idx="61">
                  <c:v>87.94</c:v>
                </c:pt>
                <c:pt idx="62">
                  <c:v>86.58</c:v>
                </c:pt>
                <c:pt idx="63">
                  <c:v>96.42</c:v>
                </c:pt>
                <c:pt idx="64">
                  <c:v>79.52</c:v>
                </c:pt>
                <c:pt idx="65">
                  <c:v>77.21</c:v>
                </c:pt>
                <c:pt idx="66">
                  <c:v>93.56</c:v>
                </c:pt>
                <c:pt idx="67">
                  <c:v>87.91</c:v>
                </c:pt>
                <c:pt idx="68">
                  <c:v>87.28</c:v>
                </c:pt>
                <c:pt idx="69">
                  <c:v>89.37</c:v>
                </c:pt>
                <c:pt idx="70">
                  <c:v>89.77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Regresión lineal</c:v>
                </c:pt>
              </c:strCache>
            </c:strRef>
          </c:tx>
          <c:spPr>
            <a:solidFill>
              <a:srgbClr val="C9542D"/>
            </a:solidFill>
            <a:ln>
              <a:noFill/>
            </a:ln>
            <a:effectLst/>
          </c:spPr>
          <c:marker>
            <c:symbol val="circle"/>
            <c:size val="6"/>
            <c:spPr>
              <a:solidFill>
                <a:srgbClr val="C9542D"/>
              </a:solidFill>
              <a:ln w="9525" cap="flat">
                <a:solidFill>
                  <a:srgbClr val="C9542D"/>
                </a:solidFill>
                <a:prstDash val="solid"/>
                <a:round/>
              </a:ln>
              <a:effectLst/>
            </c:spPr>
          </c:marker>
          <c:xVal>
            <c:numRef>
              <c:f>Sheet1!$A$2:$A$72</c:f>
              <c:numCache>
                <c:formatCode>General</c:formatCode>
                <c:ptCount val="71"/>
                <c:pt idx="0">
                  <c:v>2.1</c:v>
                </c:pt>
                <c:pt idx="1">
                  <c:v>2.12</c:v>
                </c:pt>
                <c:pt idx="2">
                  <c:v>2.34</c:v>
                </c:pt>
                <c:pt idx="3">
                  <c:v>2.7</c:v>
                </c:pt>
                <c:pt idx="4">
                  <c:v>2.72</c:v>
                </c:pt>
                <c:pt idx="5">
                  <c:v>3.1</c:v>
                </c:pt>
                <c:pt idx="6">
                  <c:v>3.11</c:v>
                </c:pt>
                <c:pt idx="7">
                  <c:v>3.15</c:v>
                </c:pt>
                <c:pt idx="8">
                  <c:v>3.16</c:v>
                </c:pt>
                <c:pt idx="9">
                  <c:v>3.53</c:v>
                </c:pt>
                <c:pt idx="10">
                  <c:v>3.68</c:v>
                </c:pt>
                <c:pt idx="11">
                  <c:v>3.69</c:v>
                </c:pt>
                <c:pt idx="12">
                  <c:v>3.91</c:v>
                </c:pt>
                <c:pt idx="13">
                  <c:v>4.16</c:v>
                </c:pt>
                <c:pt idx="14">
                  <c:v>4.65</c:v>
                </c:pt>
                <c:pt idx="15">
                  <c:v>5.01</c:v>
                </c:pt>
                <c:pt idx="16">
                  <c:v>5.22</c:v>
                </c:pt>
                <c:pt idx="17">
                  <c:v>5.26</c:v>
                </c:pt>
                <c:pt idx="18">
                  <c:v>5.29</c:v>
                </c:pt>
                <c:pt idx="19">
                  <c:v>5.31</c:v>
                </c:pt>
                <c:pt idx="20">
                  <c:v>5.42</c:v>
                </c:pt>
                <c:pt idx="21">
                  <c:v>5.78</c:v>
                </c:pt>
                <c:pt idx="22">
                  <c:v>6.26</c:v>
                </c:pt>
                <c:pt idx="23">
                  <c:v>7.03</c:v>
                </c:pt>
                <c:pt idx="24">
                  <c:v>7.45</c:v>
                </c:pt>
                <c:pt idx="25">
                  <c:v>7.75</c:v>
                </c:pt>
                <c:pt idx="26">
                  <c:v>7.77</c:v>
                </c:pt>
                <c:pt idx="27">
                  <c:v>7.82</c:v>
                </c:pt>
                <c:pt idx="28">
                  <c:v>8.15</c:v>
                </c:pt>
                <c:pt idx="29">
                  <c:v>8.16</c:v>
                </c:pt>
                <c:pt idx="30">
                  <c:v>8.18</c:v>
                </c:pt>
                <c:pt idx="31">
                  <c:v>8.22</c:v>
                </c:pt>
                <c:pt idx="32">
                  <c:v>8.31</c:v>
                </c:pt>
                <c:pt idx="33">
                  <c:v>8.31</c:v>
                </c:pt>
                <c:pt idx="34">
                  <c:v>8.39</c:v>
                </c:pt>
                <c:pt idx="35">
                  <c:v>8.42</c:v>
                </c:pt>
                <c:pt idx="36">
                  <c:v>8.57</c:v>
                </c:pt>
                <c:pt idx="37">
                  <c:v>8.84</c:v>
                </c:pt>
                <c:pt idx="38">
                  <c:v>8.87</c:v>
                </c:pt>
                <c:pt idx="39">
                  <c:v>8.92</c:v>
                </c:pt>
                <c:pt idx="40">
                  <c:v>8.94</c:v>
                </c:pt>
                <c:pt idx="41">
                  <c:v>8.98</c:v>
                </c:pt>
                <c:pt idx="42">
                  <c:v>9.39</c:v>
                </c:pt>
                <c:pt idx="43">
                  <c:v>9.66</c:v>
                </c:pt>
                <c:pt idx="44">
                  <c:v>9.77</c:v>
                </c:pt>
                <c:pt idx="45">
                  <c:v>9.85</c:v>
                </c:pt>
                <c:pt idx="46">
                  <c:v>10.44</c:v>
                </c:pt>
                <c:pt idx="47">
                  <c:v>10.74</c:v>
                </c:pt>
                <c:pt idx="48">
                  <c:v>11.14</c:v>
                </c:pt>
                <c:pt idx="49">
                  <c:v>11.2</c:v>
                </c:pt>
                <c:pt idx="50">
                  <c:v>11.24</c:v>
                </c:pt>
                <c:pt idx="51">
                  <c:v>11.41</c:v>
                </c:pt>
                <c:pt idx="52">
                  <c:v>11.48</c:v>
                </c:pt>
                <c:pt idx="53">
                  <c:v>12.04</c:v>
                </c:pt>
                <c:pt idx="54">
                  <c:v>12.32</c:v>
                </c:pt>
                <c:pt idx="55">
                  <c:v>12.34</c:v>
                </c:pt>
                <c:pt idx="56">
                  <c:v>12.46</c:v>
                </c:pt>
                <c:pt idx="57">
                  <c:v>12.51</c:v>
                </c:pt>
                <c:pt idx="58">
                  <c:v>12.82</c:v>
                </c:pt>
                <c:pt idx="59">
                  <c:v>13.02</c:v>
                </c:pt>
                <c:pt idx="60">
                  <c:v>13.63</c:v>
                </c:pt>
                <c:pt idx="61">
                  <c:v>13.63</c:v>
                </c:pt>
                <c:pt idx="62">
                  <c:v>14.38</c:v>
                </c:pt>
                <c:pt idx="63">
                  <c:v>14.55</c:v>
                </c:pt>
                <c:pt idx="64">
                  <c:v>14.68</c:v>
                </c:pt>
                <c:pt idx="65">
                  <c:v>15.37</c:v>
                </c:pt>
                <c:pt idx="66">
                  <c:v>15.43</c:v>
                </c:pt>
                <c:pt idx="67">
                  <c:v>15.56</c:v>
                </c:pt>
                <c:pt idx="68">
                  <c:v>15.8</c:v>
                </c:pt>
                <c:pt idx="69">
                  <c:v>15.86</c:v>
                </c:pt>
                <c:pt idx="70">
                  <c:v>15.87</c:v>
                </c:pt>
              </c:numCache>
            </c:numRef>
          </c:xVal>
          <c:yVal>
            <c:numRef>
              <c:f>Sheet1!$C$2:$C$72</c:f>
              <c:numCache>
                <c:formatCode>General</c:formatCode>
                <c:ptCount val="71"/>
                <c:pt idx="0">
                  <c:v>79.5</c:v>
                </c:pt>
                <c:pt idx="1">
                  <c:v>79.52</c:v>
                </c:pt>
                <c:pt idx="2">
                  <c:v>79.67</c:v>
                </c:pt>
                <c:pt idx="3">
                  <c:v>79.91</c:v>
                </c:pt>
                <c:pt idx="4">
                  <c:v>79.92</c:v>
                </c:pt>
                <c:pt idx="5">
                  <c:v>80.18</c:v>
                </c:pt>
                <c:pt idx="6">
                  <c:v>80.18</c:v>
                </c:pt>
                <c:pt idx="7">
                  <c:v>80.21</c:v>
                </c:pt>
                <c:pt idx="8">
                  <c:v>80.22</c:v>
                </c:pt>
                <c:pt idx="9">
                  <c:v>80.46</c:v>
                </c:pt>
                <c:pt idx="10">
                  <c:v>80.57</c:v>
                </c:pt>
                <c:pt idx="11">
                  <c:v>80.57</c:v>
                </c:pt>
                <c:pt idx="12">
                  <c:v>80.72</c:v>
                </c:pt>
                <c:pt idx="13">
                  <c:v>80.89</c:v>
                </c:pt>
                <c:pt idx="14">
                  <c:v>81.22</c:v>
                </c:pt>
                <c:pt idx="15">
                  <c:v>81.46</c:v>
                </c:pt>
                <c:pt idx="16">
                  <c:v>81.6</c:v>
                </c:pt>
                <c:pt idx="17">
                  <c:v>81.63</c:v>
                </c:pt>
                <c:pt idx="18">
                  <c:v>81.65</c:v>
                </c:pt>
                <c:pt idx="19">
                  <c:v>81.66</c:v>
                </c:pt>
                <c:pt idx="20">
                  <c:v>81.73</c:v>
                </c:pt>
                <c:pt idx="21">
                  <c:v>81.98</c:v>
                </c:pt>
                <c:pt idx="22">
                  <c:v>82.3</c:v>
                </c:pt>
                <c:pt idx="23">
                  <c:v>82.82</c:v>
                </c:pt>
                <c:pt idx="24">
                  <c:v>83.1</c:v>
                </c:pt>
                <c:pt idx="25">
                  <c:v>83.3</c:v>
                </c:pt>
                <c:pt idx="26">
                  <c:v>83.31</c:v>
                </c:pt>
                <c:pt idx="27">
                  <c:v>83.35</c:v>
                </c:pt>
                <c:pt idx="28">
                  <c:v>83.57</c:v>
                </c:pt>
                <c:pt idx="29">
                  <c:v>83.58</c:v>
                </c:pt>
                <c:pt idx="30">
                  <c:v>83.59</c:v>
                </c:pt>
                <c:pt idx="31">
                  <c:v>83.62</c:v>
                </c:pt>
                <c:pt idx="32">
                  <c:v>83.68</c:v>
                </c:pt>
                <c:pt idx="33">
                  <c:v>83.68</c:v>
                </c:pt>
                <c:pt idx="34">
                  <c:v>83.73</c:v>
                </c:pt>
                <c:pt idx="35">
                  <c:v>83.75</c:v>
                </c:pt>
                <c:pt idx="36">
                  <c:v>83.85</c:v>
                </c:pt>
                <c:pt idx="37">
                  <c:v>84.03</c:v>
                </c:pt>
                <c:pt idx="38">
                  <c:v>84.05</c:v>
                </c:pt>
                <c:pt idx="39">
                  <c:v>84.09</c:v>
                </c:pt>
                <c:pt idx="40">
                  <c:v>84.1</c:v>
                </c:pt>
                <c:pt idx="41">
                  <c:v>84.13</c:v>
                </c:pt>
                <c:pt idx="42">
                  <c:v>84.4</c:v>
                </c:pt>
                <c:pt idx="43">
                  <c:v>84.58</c:v>
                </c:pt>
                <c:pt idx="44">
                  <c:v>84.66</c:v>
                </c:pt>
                <c:pt idx="45">
                  <c:v>84.71</c:v>
                </c:pt>
                <c:pt idx="46">
                  <c:v>85.11</c:v>
                </c:pt>
                <c:pt idx="47">
                  <c:v>85.31</c:v>
                </c:pt>
                <c:pt idx="48">
                  <c:v>85.58</c:v>
                </c:pt>
                <c:pt idx="49">
                  <c:v>85.62</c:v>
                </c:pt>
                <c:pt idx="50">
                  <c:v>85.64</c:v>
                </c:pt>
                <c:pt idx="51">
                  <c:v>85.76</c:v>
                </c:pt>
                <c:pt idx="52">
                  <c:v>85.81</c:v>
                </c:pt>
                <c:pt idx="53">
                  <c:v>86.18</c:v>
                </c:pt>
                <c:pt idx="54">
                  <c:v>86.37</c:v>
                </c:pt>
                <c:pt idx="55">
                  <c:v>86.38</c:v>
                </c:pt>
                <c:pt idx="56">
                  <c:v>86.46</c:v>
                </c:pt>
                <c:pt idx="57">
                  <c:v>86.5</c:v>
                </c:pt>
                <c:pt idx="58">
                  <c:v>86.71</c:v>
                </c:pt>
                <c:pt idx="59">
                  <c:v>86.84</c:v>
                </c:pt>
                <c:pt idx="60">
                  <c:v>87.25</c:v>
                </c:pt>
                <c:pt idx="61">
                  <c:v>87.25</c:v>
                </c:pt>
                <c:pt idx="62">
                  <c:v>87.75</c:v>
                </c:pt>
                <c:pt idx="63">
                  <c:v>87.87</c:v>
                </c:pt>
                <c:pt idx="64">
                  <c:v>87.96</c:v>
                </c:pt>
                <c:pt idx="65">
                  <c:v>88.42</c:v>
                </c:pt>
                <c:pt idx="66">
                  <c:v>88.46</c:v>
                </c:pt>
                <c:pt idx="67">
                  <c:v>88.55</c:v>
                </c:pt>
                <c:pt idx="68">
                  <c:v>88.71</c:v>
                </c:pt>
                <c:pt idx="69">
                  <c:v>88.75</c:v>
                </c:pt>
                <c:pt idx="70">
                  <c:v>88.75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17"/>
          <c:min val="0"/>
        </c:scaling>
        <c:delete val="0"/>
        <c:axPos val="b"/>
        <c:majorGridlines>
          <c:spPr>
            <a:ln w="6350" cap="flat">
              <a:solidFill>
                <a:srgbClr val="D9CFB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6B7682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6B7682"/>
                    </a:solidFill>
                    <a:latin typeface="Arial"/>
                  </a:rPr>
                  <a:t>Horas de uso de pantalla / día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520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  <c:max val="100"/>
          <c:min val="60"/>
        </c:scaling>
        <c:delete val="0"/>
        <c:axPos val="l"/>
        <c:majorGridlines>
          <c:spPr>
            <a:ln w="6350" cap="flat">
              <a:solidFill>
                <a:srgbClr val="D9CFB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6B7682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6B7682"/>
                    </a:solidFill>
                    <a:latin typeface="Arial"/>
                  </a:rPr>
                  <a:t>Promedio de calificaciones (0–100)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5202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  <c:majorUnit val="1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15202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BF8F1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548640"/>
            <a:ext cx="0" cy="5760720"/>
          </a:xfrm>
          <a:prstGeom prst="line">
            <a:avLst/>
          </a:prstGeom>
          <a:noFill/>
          <a:ln w="9525">
            <a:solidFill>
              <a:srgbClr val="E8DF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60920" y="548640"/>
            <a:ext cx="0" cy="5760720"/>
          </a:xfrm>
          <a:prstGeom prst="line">
            <a:avLst/>
          </a:prstGeom>
          <a:noFill/>
          <a:ln w="9525">
            <a:solidFill>
              <a:srgbClr val="E8DFC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21040" y="548640"/>
            <a:ext cx="0" cy="5760720"/>
          </a:xfrm>
          <a:prstGeom prst="line">
            <a:avLst/>
          </a:prstGeom>
          <a:noFill/>
          <a:ln w="9525">
            <a:solidFill>
              <a:srgbClr val="E8DF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281160" y="548640"/>
            <a:ext cx="0" cy="5760720"/>
          </a:xfrm>
          <a:prstGeom prst="line">
            <a:avLst/>
          </a:prstGeom>
          <a:noFill/>
          <a:ln w="9525">
            <a:solidFill>
              <a:srgbClr val="E8DF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41280" y="548640"/>
            <a:ext cx="0" cy="5760720"/>
          </a:xfrm>
          <a:prstGeom prst="line">
            <a:avLst/>
          </a:prstGeom>
          <a:noFill/>
          <a:ln w="9525">
            <a:solidFill>
              <a:srgbClr val="E8DFC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01400" y="548640"/>
            <a:ext cx="0" cy="5760720"/>
          </a:xfrm>
          <a:prstGeom prst="line">
            <a:avLst/>
          </a:prstGeom>
          <a:noFill/>
          <a:ln w="9525">
            <a:solidFill>
              <a:srgbClr val="E8DF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161520" y="548640"/>
            <a:ext cx="0" cy="5760720"/>
          </a:xfrm>
          <a:prstGeom prst="line">
            <a:avLst/>
          </a:prstGeom>
          <a:noFill/>
          <a:ln w="9525">
            <a:solidFill>
              <a:srgbClr val="E8DF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822960"/>
            <a:ext cx="5425135" cy="0"/>
          </a:xfrm>
          <a:prstGeom prst="line">
            <a:avLst/>
          </a:prstGeom>
          <a:noFill/>
          <a:ln w="9525">
            <a:solidFill>
              <a:srgbClr val="E8DFC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1783080"/>
            <a:ext cx="5425135" cy="0"/>
          </a:xfrm>
          <a:prstGeom prst="line">
            <a:avLst/>
          </a:prstGeom>
          <a:noFill/>
          <a:ln w="9525">
            <a:solidFill>
              <a:srgbClr val="E8DF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0" y="2743200"/>
            <a:ext cx="5425135" cy="0"/>
          </a:xfrm>
          <a:prstGeom prst="line">
            <a:avLst/>
          </a:prstGeom>
          <a:noFill/>
          <a:ln w="9525">
            <a:solidFill>
              <a:srgbClr val="E8DFC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3703320"/>
            <a:ext cx="5425135" cy="0"/>
          </a:xfrm>
          <a:prstGeom prst="line">
            <a:avLst/>
          </a:prstGeom>
          <a:noFill/>
          <a:ln w="9525">
            <a:solidFill>
              <a:srgbClr val="E8DF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0" y="4663440"/>
            <a:ext cx="5425135" cy="0"/>
          </a:xfrm>
          <a:prstGeom prst="line">
            <a:avLst/>
          </a:prstGeom>
          <a:noFill/>
          <a:ln w="9525">
            <a:solidFill>
              <a:srgbClr val="E8DF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5623560"/>
            <a:ext cx="5425135" cy="0"/>
          </a:xfrm>
          <a:prstGeom prst="line">
            <a:avLst/>
          </a:prstGeom>
          <a:noFill/>
          <a:ln w="9525">
            <a:solidFill>
              <a:srgbClr val="E8DFC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0" y="141732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0E5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PROBABILIDAD · EQUIPO 1 · 2026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80160" y="2103120"/>
            <a:ext cx="96313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4000" dirty="0">
                <a:solidFill>
                  <a:srgbClr val="15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Análisis estadístico del uso de </a:t>
            </a:r>
            <a:pPr algn="ctr" indent="0" marL="0">
              <a:lnSpc>
                <a:spcPct val="102000"/>
              </a:lnSpc>
              <a:buNone/>
            </a:pPr>
            <a:r>
              <a:rPr lang="en-US" sz="4000" i="1" dirty="0">
                <a:solidFill>
                  <a:srgbClr val="C954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dispositivos con pantalla</a:t>
            </a:r>
            <a:pPr algn="ctr" indent="0" marL="0">
              <a:lnSpc>
                <a:spcPct val="102000"/>
              </a:lnSpc>
              <a:buNone/>
            </a:pPr>
            <a:r>
              <a:rPr lang="en-US" sz="4000" dirty="0">
                <a:solidFill>
                  <a:srgbClr val="15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y redes sociales en estudiantes universitarios.</a:t>
            </a:r>
            <a:endParaRPr lang="en-US" sz="4000" dirty="0"/>
          </a:p>
        </p:txBody>
      </p:sp>
      <p:sp>
        <p:nvSpPr>
          <p:cNvPr id="17" name="Shape 15"/>
          <p:cNvSpPr/>
          <p:nvPr/>
        </p:nvSpPr>
        <p:spPr>
          <a:xfrm>
            <a:off x="5272888" y="4846320"/>
            <a:ext cx="1645920" cy="27432"/>
          </a:xfrm>
          <a:prstGeom prst="rect">
            <a:avLst/>
          </a:prstGeom>
          <a:solidFill>
            <a:srgbClr val="C9542D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6419088"/>
            <a:ext cx="82296" cy="82296"/>
          </a:xfrm>
          <a:prstGeom prst="ellipse">
            <a:avLst/>
          </a:prstGeom>
          <a:solidFill>
            <a:srgbClr val="C9542D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629107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6B76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PROBABILIDAD · EQUIPO 1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9539935" y="62910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50" kern="0" dirty="0">
                <a:solidFill>
                  <a:srgbClr val="6B76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13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40" kern="0" dirty="0">
                <a:solidFill>
                  <a:srgbClr val="0E5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 01 · DISEÑO DEL ESTUDIO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15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Población y muestra.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143000" cy="25603"/>
          </a:xfrm>
          <a:prstGeom prst="rect">
            <a:avLst/>
          </a:prstGeom>
          <a:solidFill>
            <a:srgbClr val="15202B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148840"/>
            <a:ext cx="4998568" cy="3657600"/>
          </a:xfrm>
          <a:prstGeom prst="rect">
            <a:avLst/>
          </a:prstGeom>
          <a:solidFill>
            <a:srgbClr val="0A4747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2560320"/>
            <a:ext cx="408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BC7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POBLACIÓN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80160" y="3017520"/>
            <a:ext cx="40841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FB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Alumnos de la </a:t>
            </a:r>
            <a:pPr indent="0" marL="0">
              <a:lnSpc>
                <a:spcPct val="105000"/>
              </a:lnSpc>
              <a:buNone/>
            </a:pPr>
            <a:r>
              <a:rPr lang="en-US" sz="3000" i="1" dirty="0">
                <a:solidFill>
                  <a:srgbClr val="F6C5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Facultad de Matemáticas</a:t>
            </a:r>
            <a:pPr indent="0" marL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FB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280160" y="4526280"/>
            <a:ext cx="4084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1E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Grupo objetivo: estudiantes universitarios cuyo uso de dispositivos forma parte central de su jornada académica.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70168" y="2148840"/>
            <a:ext cx="4998568" cy="3657600"/>
          </a:xfrm>
          <a:prstGeom prst="rect">
            <a:avLst/>
          </a:prstGeom>
          <a:solidFill>
            <a:srgbClr val="FBF8F1"/>
          </a:solidFill>
          <a:ln w="12700">
            <a:solidFill>
              <a:srgbClr val="D9CF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27368" y="2560320"/>
            <a:ext cx="408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5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MUESTRA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27368" y="2926080"/>
            <a:ext cx="4084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C954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71 alumnos</a:t>
            </a:r>
            <a:pPr indent="0" marL="0">
              <a:buNone/>
            </a:pPr>
            <a:r>
              <a:rPr lang="en-US" sz="2900" dirty="0">
                <a:solidFill>
                  <a:srgbClr val="15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encuestados.</a:t>
            </a:r>
            <a:endParaRPr lang="en-US" sz="2900" dirty="0"/>
          </a:p>
        </p:txBody>
      </p:sp>
      <p:sp>
        <p:nvSpPr>
          <p:cNvPr id="12" name="Text 10"/>
          <p:cNvSpPr/>
          <p:nvPr/>
        </p:nvSpPr>
        <p:spPr>
          <a:xfrm>
            <a:off x="6827368" y="3776472"/>
            <a:ext cx="4084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C4A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Los datos se recolectaron mediante un formulario de </a:t>
            </a:r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Google Forms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C4A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con </a:t>
            </a:r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 preguntas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C4A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aplicado a estudiantes activos de la Facultad.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827368" y="5029200"/>
            <a:ext cx="1143000" cy="384048"/>
          </a:xfrm>
          <a:prstGeom prst="roundRect">
            <a:avLst>
              <a:gd name="adj" fmla="val 50000"/>
            </a:avLst>
          </a:prstGeom>
          <a:ln w="12700">
            <a:solidFill>
              <a:srgbClr val="1520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27368" y="502920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40" kern="0" dirty="0">
                <a:solidFill>
                  <a:srgbClr val="1520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71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07528" y="5029200"/>
            <a:ext cx="1783080" cy="384048"/>
          </a:xfrm>
          <a:prstGeom prst="roundRect">
            <a:avLst>
              <a:gd name="adj" fmla="val 50000"/>
            </a:avLst>
          </a:prstGeom>
          <a:ln w="12700">
            <a:solidFill>
              <a:srgbClr val="1520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07528" y="502920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40" kern="0" dirty="0">
                <a:solidFill>
                  <a:srgbClr val="1520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GOOGLE FORMS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982048" y="5029200"/>
            <a:ext cx="1280160" cy="384048"/>
          </a:xfrm>
          <a:prstGeom prst="roundRect">
            <a:avLst>
              <a:gd name="adj" fmla="val 50000"/>
            </a:avLst>
          </a:prstGeom>
          <a:ln w="12700">
            <a:solidFill>
              <a:srgbClr val="1520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982048" y="50292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40" kern="0" dirty="0">
                <a:solidFill>
                  <a:srgbClr val="1520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PREG.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22960" y="6419088"/>
            <a:ext cx="82296" cy="82296"/>
          </a:xfrm>
          <a:prstGeom prst="ellipse">
            <a:avLst/>
          </a:prstGeom>
          <a:solidFill>
            <a:srgbClr val="C9542D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629107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6B76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POBLACIÓN Y MUESTRA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9539935" y="62910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50" kern="0" dirty="0">
                <a:solidFill>
                  <a:srgbClr val="6B76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13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40" kern="0" dirty="0">
                <a:solidFill>
                  <a:srgbClr val="0E5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 02 · VARIABLES DEL ESTUDIO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15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Seis variables, dos naturalezas.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143000" cy="25603"/>
          </a:xfrm>
          <a:prstGeom prst="rect">
            <a:avLst/>
          </a:prstGeom>
          <a:solidFill>
            <a:srgbClr val="15202B"/>
          </a:solidFill>
          <a:ln/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103120"/>
          <a:ext cx="10545775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4937760"/>
                <a:gridCol w="2011680"/>
                <a:gridCol w="1554480"/>
                <a:gridCol w="1493215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spc="120" kern="0" dirty="0">
                          <a:solidFill>
                            <a:srgbClr val="6B76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#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52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spc="120" kern="0" dirty="0">
                          <a:solidFill>
                            <a:srgbClr val="6B76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VARIABLE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52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spc="120" kern="0" dirty="0">
                          <a:solidFill>
                            <a:srgbClr val="6B76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NATURALEZA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52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spc="120" kern="0" dirty="0">
                          <a:solidFill>
                            <a:srgbClr val="6B76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TIPO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52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spc="120" kern="0" dirty="0">
                          <a:solidFill>
                            <a:srgbClr val="6B76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UNIDAD / VALORES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52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3C4A5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520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Tiempo en redes sociales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C4A5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Cuantitativa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C4A5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Continua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C4A5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horas / día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3C4A5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520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Horas de uso de pantallas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C4A5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Cuantitativa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C4A5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Continua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C4A5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horas / día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3C4A5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520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Horas usando pantallas para estudiar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C4A5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Cuantitativa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C4A5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Continua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C4A5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horas / día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3C4A5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520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Promedio de calificaciones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C4A5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Cuantitativa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C4A5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Continua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C4A5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escala 0 – 100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3C4A5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520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Dispositivo usado con mayor frecuencia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C4A5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Cualitativa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C4A5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Nominal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C4A5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celular, laptop, …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3C4A5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6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520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Frecuencia de distracción en redes sociales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C4A5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Cualitativa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C4A5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Ordinal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C4A5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nunca → siempre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5623560"/>
            <a:ext cx="10545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6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 cuantitativas admiten medidas descriptivas y métodos numéricos; las cualitativas se analizan con tablas de frecuencia y representaciones gráficas.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822960" y="6419088"/>
            <a:ext cx="82296" cy="82296"/>
          </a:xfrm>
          <a:prstGeom prst="ellipse">
            <a:avLst/>
          </a:prstGeom>
          <a:solidFill>
            <a:srgbClr val="C9542D"/>
          </a:solidFill>
          <a:ln/>
        </p:spPr>
      </p:sp>
      <p:sp>
        <p:nvSpPr>
          <p:cNvPr id="8" name="Text 5"/>
          <p:cNvSpPr/>
          <p:nvPr/>
        </p:nvSpPr>
        <p:spPr>
          <a:xfrm>
            <a:off x="1005840" y="629107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6B76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9539935" y="62910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50" kern="0" dirty="0">
                <a:solidFill>
                  <a:srgbClr val="6B76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40" kern="0" dirty="0">
                <a:solidFill>
                  <a:srgbClr val="0E5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 03 · PROCESAMIENTO DE DATOS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15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en Python.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143000" cy="25603"/>
          </a:xfrm>
          <a:prstGeom prst="rect">
            <a:avLst/>
          </a:prstGeom>
          <a:solidFill>
            <a:srgbClr val="15202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48840"/>
            <a:ext cx="495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5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LIBRERÍAS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22960" y="2560320"/>
            <a:ext cx="4952848" cy="1554480"/>
          </a:xfrm>
          <a:prstGeom prst="rect">
            <a:avLst/>
          </a:prstGeom>
          <a:solidFill>
            <a:srgbClr val="1A242E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560320"/>
            <a:ext cx="44042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6EF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6EF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6EF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matplotlib.pyplot as plt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6EF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seaborn as sns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6EF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4343400"/>
            <a:ext cx="49528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pandas</a:t>
            </a:r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3C4A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manipula los datos tabulares · </a:t>
            </a:r>
            <a:pPr indent="0" marL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numpy</a:t>
            </a:r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3C4A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opera matemáticamente y maneja nulos · </a:t>
            </a:r>
            <a:pPr indent="0" marL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matplotlib</a:t>
            </a:r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3C4A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y </a:t>
            </a:r>
            <a:pPr indent="0" marL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seaborn</a:t>
            </a:r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3C4A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generan los gráficos · </a:t>
            </a:r>
            <a:pPr indent="0" marL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</a:t>
            </a:r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3C4A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extrae patrones del texto.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15888" y="2148840"/>
            <a:ext cx="495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5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LIMPIEZA Y ESTANDARIZACIÓN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15888" y="260604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54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73088" y="2606040"/>
            <a:ext cx="449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limpiar_promedio()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873088" y="2971800"/>
            <a:ext cx="4495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C4A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Extrae solo dígitos; si el valor es 1–10 lo multiplica × 10 para llevar todo a escala 0–100 → Promedio_Numerico.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15888" y="384048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54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73088" y="3840480"/>
            <a:ext cx="449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mapear_horas()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873088" y="4206240"/>
            <a:ext cx="4495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C4A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Traduce rangos de texto (“1 a 3”) a valores numéricos fijos (2.0) → Horas_Pantalla_Num.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15888" y="507492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54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73088" y="5074920"/>
            <a:ext cx="449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Depuración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873088" y="5440680"/>
            <a:ext cx="4495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C4A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 descartan participantes con campos vacíos o inválidos en horas o promedio.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22960" y="6419088"/>
            <a:ext cx="82296" cy="82296"/>
          </a:xfrm>
          <a:prstGeom prst="ellipse">
            <a:avLst/>
          </a:prstGeom>
          <a:solidFill>
            <a:srgbClr val="C9542D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629107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6B76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 PYTHON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9539935" y="62910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50" kern="0" dirty="0">
                <a:solidFill>
                  <a:srgbClr val="6B76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13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40" kern="0" dirty="0">
                <a:solidFill>
                  <a:srgbClr val="0E5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 04 · RESULTADOS — TABLA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15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Frecuencia del dispositivo usado.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143000" cy="25603"/>
          </a:xfrm>
          <a:prstGeom prst="rect">
            <a:avLst/>
          </a:prstGeom>
          <a:solidFill>
            <a:srgbClr val="15202B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286000"/>
          <a:ext cx="60350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005840"/>
                <a:gridCol w="1005840"/>
                <a:gridCol w="100584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spc="100" kern="0" dirty="0">
                          <a:solidFill>
                            <a:srgbClr val="6B76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DISPOSITIVO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52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spc="100" kern="0" dirty="0">
                          <a:solidFill>
                            <a:srgbClr val="6B76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 ABS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52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spc="100" kern="0" dirty="0">
                          <a:solidFill>
                            <a:srgbClr val="6B76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 REL (%)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52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spc="100" kern="0" dirty="0">
                          <a:solidFill>
                            <a:srgbClr val="6B76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 ACUM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52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0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Celular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520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34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520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47.9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520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34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0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Laptop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520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17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520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23.9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520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51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0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Computadora de escritorio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520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16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520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22.5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520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67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0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Tablet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520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520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4.2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520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70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0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Otro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520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520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1.4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520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71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spc="100" kern="0" dirty="0">
                          <a:solidFill>
                            <a:srgbClr val="6B76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TOTAL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152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520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71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152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520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100.0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152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152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1E8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22960" y="2862072"/>
            <a:ext cx="146304" cy="146304"/>
          </a:xfrm>
          <a:prstGeom prst="rect">
            <a:avLst/>
          </a:prstGeom>
          <a:solidFill>
            <a:srgbClr val="0E5C5C"/>
          </a:solidFill>
          <a:ln/>
        </p:spPr>
      </p:sp>
      <p:sp>
        <p:nvSpPr>
          <p:cNvPr id="7" name="Shape 4"/>
          <p:cNvSpPr/>
          <p:nvPr/>
        </p:nvSpPr>
        <p:spPr>
          <a:xfrm>
            <a:off x="822960" y="3364992"/>
            <a:ext cx="146304" cy="146304"/>
          </a:xfrm>
          <a:prstGeom prst="rect">
            <a:avLst/>
          </a:prstGeom>
          <a:solidFill>
            <a:srgbClr val="C9542D"/>
          </a:solidFill>
          <a:ln/>
        </p:spPr>
      </p:sp>
      <p:sp>
        <p:nvSpPr>
          <p:cNvPr id="8" name="Shape 5"/>
          <p:cNvSpPr/>
          <p:nvPr/>
        </p:nvSpPr>
        <p:spPr>
          <a:xfrm>
            <a:off x="822960" y="3867912"/>
            <a:ext cx="146304" cy="146304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9" name="Shape 6"/>
          <p:cNvSpPr/>
          <p:nvPr/>
        </p:nvSpPr>
        <p:spPr>
          <a:xfrm>
            <a:off x="822960" y="4370832"/>
            <a:ext cx="146304" cy="146304"/>
          </a:xfrm>
          <a:prstGeom prst="rect">
            <a:avLst/>
          </a:prstGeom>
          <a:solidFill>
            <a:srgbClr val="6B8E7F"/>
          </a:solidFill>
          <a:ln/>
        </p:spPr>
      </p:sp>
      <p:sp>
        <p:nvSpPr>
          <p:cNvPr id="10" name="Shape 7"/>
          <p:cNvSpPr/>
          <p:nvPr/>
        </p:nvSpPr>
        <p:spPr>
          <a:xfrm>
            <a:off x="822960" y="4873752"/>
            <a:ext cx="146304" cy="146304"/>
          </a:xfrm>
          <a:prstGeom prst="rect">
            <a:avLst/>
          </a:prstGeom>
          <a:solidFill>
            <a:srgbClr val="8A6E4B"/>
          </a:solidFill>
          <a:ln/>
        </p:spPr>
      </p:sp>
      <p:sp>
        <p:nvSpPr>
          <p:cNvPr id="11" name="Text 8"/>
          <p:cNvSpPr/>
          <p:nvPr/>
        </p:nvSpPr>
        <p:spPr>
          <a:xfrm>
            <a:off x="7498080" y="2468880"/>
            <a:ext cx="387065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dirty="0">
                <a:solidFill>
                  <a:srgbClr val="15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</a:t>
            </a:r>
            <a:pPr indent="0" marL="0">
              <a:lnSpc>
                <a:spcPct val="105000"/>
              </a:lnSpc>
              <a:buNone/>
            </a:pPr>
            <a:r>
              <a:rPr lang="en-US" sz="2800" dirty="0">
                <a:solidFill>
                  <a:srgbClr val="C954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celular</a:t>
            </a:r>
            <a:pPr indent="0" marL="0">
              <a:lnSpc>
                <a:spcPct val="105000"/>
              </a:lnSpc>
              <a:buNone/>
            </a:pPr>
            <a:r>
              <a:rPr lang="en-US" sz="2800" dirty="0">
                <a:solidFill>
                  <a:srgbClr val="15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domina con </a:t>
            </a:r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5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47.9 %</a:t>
            </a:r>
            <a:pPr indent="0" marL="0">
              <a:lnSpc>
                <a:spcPct val="105000"/>
              </a:lnSpc>
              <a:buNone/>
            </a:pPr>
            <a:r>
              <a:rPr lang="en-US" sz="2800" dirty="0">
                <a:solidFill>
                  <a:srgbClr val="15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casi 1 de cada 2 estudiantes.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7498080" y="4617720"/>
            <a:ext cx="38706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C4A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 se suma laptop + escritorio (46.4 %), el cómputo personal está prácticamente empatado con el móvil; tablet y otros son marginales.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22960" y="6419088"/>
            <a:ext cx="82296" cy="82296"/>
          </a:xfrm>
          <a:prstGeom prst="ellipse">
            <a:avLst/>
          </a:prstGeom>
          <a:solidFill>
            <a:srgbClr val="C9542D"/>
          </a:solidFill>
          <a:ln/>
        </p:spPr>
      </p:sp>
      <p:sp>
        <p:nvSpPr>
          <p:cNvPr id="14" name="Text 11"/>
          <p:cNvSpPr/>
          <p:nvPr/>
        </p:nvSpPr>
        <p:spPr>
          <a:xfrm>
            <a:off x="1005840" y="629107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6B76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TABLA 1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9539935" y="62910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50" kern="0" dirty="0">
                <a:solidFill>
                  <a:srgbClr val="6B76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13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40" kern="0" dirty="0">
                <a:solidFill>
                  <a:srgbClr val="0E5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 04 · RESULTADOS — TABLA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04672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dirty="0">
                <a:solidFill>
                  <a:srgbClr val="15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Medidas descriptivas: promedio de calificaciones.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1143000" cy="25603"/>
          </a:xfrm>
          <a:prstGeom prst="rect">
            <a:avLst/>
          </a:prstGeom>
          <a:solidFill>
            <a:srgbClr val="15202B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31720"/>
          <a:ext cx="54864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spc="100" kern="0" dirty="0">
                          <a:solidFill>
                            <a:srgbClr val="6B76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MEDIDA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52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spc="100" kern="0" dirty="0">
                          <a:solidFill>
                            <a:srgbClr val="6B76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RESULTADO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52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C4A5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Media (x̄)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1520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85.20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C4A5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Mediana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1520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86.00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C4A5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Moda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1520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89.00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C4A5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Rango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1520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30.00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C4A5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Varianza (s²)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1520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46.85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C4A5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Desviación estándar (s)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1520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6.84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C4A5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Coeficiente de variación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1520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8.03 %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949440" y="2331720"/>
            <a:ext cx="4419295" cy="1828800"/>
          </a:xfrm>
          <a:prstGeom prst="rect">
            <a:avLst/>
          </a:prstGeom>
          <a:solidFill>
            <a:srgbClr val="FBF8F1"/>
          </a:solidFill>
          <a:ln w="12700">
            <a:solidFill>
              <a:srgbClr val="D9CFB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269480" y="2514600"/>
            <a:ext cx="3779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E5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LECTURA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269480" y="2852928"/>
            <a:ext cx="37792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5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Rendimiento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5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medio-alto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5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y distribución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5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estable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5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la media ≈ mediana ≈ moda y el CV (8.03 %) indica baja variabilidad.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949440" y="4343400"/>
            <a:ext cx="4419295" cy="1554480"/>
          </a:xfrm>
          <a:prstGeom prst="rect">
            <a:avLst/>
          </a:prstGeom>
          <a:solidFill>
            <a:srgbClr val="FBF8F1"/>
          </a:solidFill>
          <a:ln w="12700">
            <a:solidFill>
              <a:srgbClr val="D9CFB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269480" y="4526280"/>
            <a:ext cx="3779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E5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DISPERSIÓN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269480" y="4864608"/>
            <a:ext cx="3779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C4A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 = 6.84 puntos en una escala de 100 → los promedios se concentran aproximadamente en </a:t>
            </a:r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78 – 92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C4A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822960" y="6419088"/>
            <a:ext cx="82296" cy="82296"/>
          </a:xfrm>
          <a:prstGeom prst="ellipse">
            <a:avLst/>
          </a:prstGeom>
          <a:solidFill>
            <a:srgbClr val="C9542D"/>
          </a:solidFill>
          <a:ln/>
        </p:spPr>
      </p:sp>
      <p:sp>
        <p:nvSpPr>
          <p:cNvPr id="13" name="Text 10"/>
          <p:cNvSpPr/>
          <p:nvPr/>
        </p:nvSpPr>
        <p:spPr>
          <a:xfrm>
            <a:off x="1005840" y="629107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6B76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TABLA 2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9539935" y="62910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50" kern="0" dirty="0">
                <a:solidFill>
                  <a:srgbClr val="6B76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13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40" kern="0" dirty="0">
                <a:solidFill>
                  <a:srgbClr val="0E5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 04 · RESULTADOS — TABLA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04672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dirty="0">
                <a:solidFill>
                  <a:srgbClr val="15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Medidas descriptivas: horas de uso de pantalla.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1143000" cy="25603"/>
          </a:xfrm>
          <a:prstGeom prst="rect">
            <a:avLst/>
          </a:prstGeom>
          <a:solidFill>
            <a:srgbClr val="15202B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31720"/>
          <a:ext cx="548640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20116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spc="100" kern="0" dirty="0">
                          <a:solidFill>
                            <a:srgbClr val="6B76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MEDIDA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52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spc="100" kern="0" dirty="0">
                          <a:solidFill>
                            <a:srgbClr val="6B76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RESULTADO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52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C4A5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Media (x̄)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1520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7.84 horas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C4A5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Mediana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1520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6.00 horas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C4A5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Moda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1520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6.00 horas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C4A5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Rango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1520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9.00 horas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C4A5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Varianza (s²)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1520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9.21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C4A5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Desviación estándar (s)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1520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3.03 horas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C4A5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Coeficiente de variación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1520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38.69 %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949440" y="2331720"/>
            <a:ext cx="4419295" cy="1828800"/>
          </a:xfrm>
          <a:prstGeom prst="rect">
            <a:avLst/>
          </a:prstGeom>
          <a:solidFill>
            <a:srgbClr val="FBF8F1"/>
          </a:solidFill>
          <a:ln w="12700">
            <a:solidFill>
              <a:srgbClr val="D9CFB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269480" y="2514600"/>
            <a:ext cx="3779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E5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LECTURA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269480" y="2852928"/>
            <a:ext cx="377921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15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Distribución </a:t>
            </a:r>
            <a:pPr indent="0" marL="0">
              <a:lnSpc>
                <a:spcPct val="118000"/>
              </a:lnSpc>
              <a:buNone/>
            </a:pPr>
            <a:r>
              <a:rPr lang="en-US" sz="1400" b="1" dirty="0">
                <a:solidFill>
                  <a:srgbClr val="15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asimétrica</a:t>
            </a:r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15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con sesgo a la derecha: la media (7.84 h) supera a la mediana y moda (6.00 h). El valor típico son </a:t>
            </a:r>
            <a:pPr indent="0" marL="0">
              <a:lnSpc>
                <a:spcPct val="118000"/>
              </a:lnSpc>
              <a:buNone/>
            </a:pPr>
            <a:r>
              <a:rPr lang="en-US" sz="1400" b="1" dirty="0">
                <a:solidFill>
                  <a:srgbClr val="15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horas</a:t>
            </a:r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15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pero usuarios intensivos elevan el promedio.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949440" y="4343400"/>
            <a:ext cx="4419295" cy="1554480"/>
          </a:xfrm>
          <a:prstGeom prst="rect">
            <a:avLst/>
          </a:prstGeom>
          <a:solidFill>
            <a:srgbClr val="FBF8F1"/>
          </a:solidFill>
          <a:ln w="12700">
            <a:solidFill>
              <a:srgbClr val="D9CFB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269480" y="4526280"/>
            <a:ext cx="3779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E5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DISPERSIÓN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269480" y="4864608"/>
            <a:ext cx="37792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C4A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CV =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38.69 %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C4A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→ variabilidad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C954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alta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C4A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(vs. 8.03 % en calificaciones). Con s = 3.03 h, el uso se concentra entre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4.8 – 10.9 h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C4A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22960" y="6419088"/>
            <a:ext cx="82296" cy="82296"/>
          </a:xfrm>
          <a:prstGeom prst="ellipse">
            <a:avLst/>
          </a:prstGeom>
          <a:solidFill>
            <a:srgbClr val="C9542D"/>
          </a:solidFill>
          <a:ln/>
        </p:spPr>
      </p:sp>
      <p:sp>
        <p:nvSpPr>
          <p:cNvPr id="13" name="Text 10"/>
          <p:cNvSpPr/>
          <p:nvPr/>
        </p:nvSpPr>
        <p:spPr>
          <a:xfrm>
            <a:off x="1005840" y="629107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6B76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TABLA 3 · HORAS DE PANTALLA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9539935" y="62910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50" kern="0" dirty="0">
                <a:solidFill>
                  <a:srgbClr val="6B76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13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40" kern="0" dirty="0">
                <a:solidFill>
                  <a:srgbClr val="0E5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 05 · ANÁLISIS GRÁFICO — FIGURA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749808"/>
            <a:ext cx="10545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300" dirty="0">
                <a:solidFill>
                  <a:srgbClr val="15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Distribución de horas de uso de pantallas / día.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822960" y="1847088"/>
            <a:ext cx="1143000" cy="25603"/>
          </a:xfrm>
          <a:prstGeom prst="rect">
            <a:avLst/>
          </a:prstGeom>
          <a:solidFill>
            <a:srgbClr val="15202B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148840"/>
            <a:ext cx="6309360" cy="3840480"/>
          </a:xfrm>
          <a:prstGeom prst="rect">
            <a:avLst/>
          </a:prstGeom>
          <a:solidFill>
            <a:srgbClr val="FBF8F1"/>
          </a:solidFill>
          <a:ln w="12700">
            <a:solidFill>
              <a:srgbClr val="D9CFB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33172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6B76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HISTOGRAMA + DENSIDAD — N = 71</a:t>
            </a:r>
            <a:endParaRPr lang="en-US" sz="9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1051560" y="2697480"/>
          <a:ext cx="585216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7680960" y="2331720"/>
            <a:ext cx="368777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dirty="0">
                <a:solidFill>
                  <a:srgbClr val="15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Concentración entre </a:t>
            </a:r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C954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y 12 horas</a:t>
            </a:r>
            <a:pPr indent="0" marL="0">
              <a:lnSpc>
                <a:spcPct val="105000"/>
              </a:lnSpc>
              <a:buNone/>
            </a:pPr>
            <a:r>
              <a:rPr lang="en-US" sz="2600" dirty="0">
                <a:solidFill>
                  <a:srgbClr val="15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diarias.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7680960" y="3657600"/>
            <a:ext cx="368777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3C4A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 gráfica de barras muestra la distribución general de las horas de uso de pantalla; sobre ella se superpone una curva de densidad suave para evidenciar el rango donde se concentra la mayoría de los estudiantes.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680960" y="5212080"/>
            <a:ext cx="3687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3C4A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sesgo hacia la derecha sugiere una </a:t>
            </a:r>
            <a:pPr indent="0" marL="0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elevada exposición</a:t>
            </a:r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3C4A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 dispositivos electrónicos en la muestra.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22960" y="6419088"/>
            <a:ext cx="82296" cy="82296"/>
          </a:xfrm>
          <a:prstGeom prst="ellipse">
            <a:avLst/>
          </a:prstGeom>
          <a:solidFill>
            <a:srgbClr val="C9542D"/>
          </a:solidFill>
          <a:ln/>
        </p:spPr>
      </p:sp>
      <p:sp>
        <p:nvSpPr>
          <p:cNvPr id="12" name="Text 9"/>
          <p:cNvSpPr/>
          <p:nvPr/>
        </p:nvSpPr>
        <p:spPr>
          <a:xfrm>
            <a:off x="1005840" y="629107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6B76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FIGURA 1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9539935" y="62910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50" kern="0" dirty="0">
                <a:solidFill>
                  <a:srgbClr val="6B76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13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40" kern="0" dirty="0">
                <a:solidFill>
                  <a:srgbClr val="0E5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 05 · ANÁLISIS GRÁFICO — FIGURA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749808"/>
            <a:ext cx="10545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300" dirty="0">
                <a:solidFill>
                  <a:srgbClr val="15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Distribución porcentual del dispositivo principal.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822960" y="1847088"/>
            <a:ext cx="1143000" cy="25603"/>
          </a:xfrm>
          <a:prstGeom prst="rect">
            <a:avLst/>
          </a:prstGeom>
          <a:solidFill>
            <a:srgbClr val="15202B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148840"/>
            <a:ext cx="6309360" cy="3840480"/>
          </a:xfrm>
          <a:prstGeom prst="rect">
            <a:avLst/>
          </a:prstGeom>
          <a:solidFill>
            <a:srgbClr val="FBF8F1"/>
          </a:solidFill>
          <a:ln w="12700">
            <a:solidFill>
              <a:srgbClr val="D9CFB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33172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6B76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DIAGRAMA CIRCULAR — N = 71</a:t>
            </a:r>
            <a:endParaRPr lang="en-US" sz="9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1051560" y="2697480"/>
          <a:ext cx="585216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7680960" y="2331720"/>
            <a:ext cx="368777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dirty="0">
                <a:solidFill>
                  <a:srgbClr val="15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celular es el dispositivo </a:t>
            </a:r>
            <a:pPr indent="0" marL="0">
              <a:lnSpc>
                <a:spcPct val="105000"/>
              </a:lnSpc>
              <a:buNone/>
            </a:pPr>
            <a:r>
              <a:rPr lang="en-US" sz="2600" i="1" dirty="0">
                <a:solidFill>
                  <a:srgbClr val="C954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predominante</a:t>
            </a:r>
            <a:pPr indent="0" marL="0">
              <a:lnSpc>
                <a:spcPct val="105000"/>
              </a:lnSpc>
              <a:buNone/>
            </a:pPr>
            <a:r>
              <a:rPr lang="en-US" sz="2600" dirty="0">
                <a:solidFill>
                  <a:srgbClr val="15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7680960" y="3703320"/>
            <a:ext cx="368777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3C4A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 gráfica circular confirma los valores de la Tabla 1: el celular concentra 47.9 % de las respuestas, seguido por laptop (23.9 %) y computadora de escritorio (22.5 %).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680960" y="5120640"/>
            <a:ext cx="3687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3C4A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Tablet (4.2 %) y la categoría “Otro” (1.4 %) son testimoniales — el ecosistema digital del estudiante se reduce, en la práctica, a </a:t>
            </a:r>
            <a:pPr indent="0" marL="0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tres dispositivos</a:t>
            </a:r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3C4A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22960" y="6419088"/>
            <a:ext cx="82296" cy="82296"/>
          </a:xfrm>
          <a:prstGeom prst="ellipse">
            <a:avLst/>
          </a:prstGeom>
          <a:solidFill>
            <a:srgbClr val="C9542D"/>
          </a:solidFill>
          <a:ln/>
        </p:spPr>
      </p:sp>
      <p:sp>
        <p:nvSpPr>
          <p:cNvPr id="12" name="Text 9"/>
          <p:cNvSpPr/>
          <p:nvPr/>
        </p:nvSpPr>
        <p:spPr>
          <a:xfrm>
            <a:off x="1005840" y="629107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6B76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FIGURA 2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9539935" y="62910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50" kern="0" dirty="0">
                <a:solidFill>
                  <a:srgbClr val="6B76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13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40" kern="0" dirty="0">
                <a:solidFill>
                  <a:srgbClr val="0E5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 05 · ANÁLISIS GRÁFICO — FIGURA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15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Horas de pantalla vs. promedio académico.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143000" cy="25603"/>
          </a:xfrm>
          <a:prstGeom prst="rect">
            <a:avLst/>
          </a:prstGeom>
          <a:solidFill>
            <a:srgbClr val="15202B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148840"/>
            <a:ext cx="6309360" cy="3840480"/>
          </a:xfrm>
          <a:prstGeom prst="rect">
            <a:avLst/>
          </a:prstGeom>
          <a:solidFill>
            <a:srgbClr val="FBF8F1"/>
          </a:solidFill>
          <a:ln w="12700">
            <a:solidFill>
              <a:srgbClr val="D9CFB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33172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6B76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DISPERSIÓN + REGRESIÓN LINEAL — N = 71</a:t>
            </a:r>
            <a:endParaRPr lang="en-US" sz="9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1051560" y="2697480"/>
          <a:ext cx="585216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7680960" y="2331720"/>
            <a:ext cx="368777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dirty="0">
                <a:solidFill>
                  <a:srgbClr val="15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Ligera tendencia </a:t>
            </a:r>
            <a:pPr indent="0" marL="0">
              <a:lnSpc>
                <a:spcPct val="105000"/>
              </a:lnSpc>
              <a:buNone/>
            </a:pPr>
            <a:r>
              <a:rPr lang="en-US" sz="2600" i="1" dirty="0">
                <a:solidFill>
                  <a:srgbClr val="C954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positiva</a:t>
            </a:r>
            <a:pPr indent="0" marL="0">
              <a:lnSpc>
                <a:spcPct val="105000"/>
              </a:lnSpc>
              <a:buNone/>
            </a:pPr>
            <a:r>
              <a:rPr lang="en-US" sz="2600" dirty="0">
                <a:solidFill>
                  <a:srgbClr val="15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pero dispersa.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7680960" y="3703320"/>
            <a:ext cx="368777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3C4A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Cada punto representa un estudiante en el plano horas–calificación. La línea roja es la regresión: ayuda a leer visualmente si el promedio sube, baja o se mantiene conforme aumentan las horas.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680960" y="5120640"/>
            <a:ext cx="3687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3C4A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 nube de puntos está muy esparcida — la pendiente apenas se inclina, lo que anticipa una </a:t>
            </a:r>
            <a:pPr indent="0" marL="0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correlación débil</a:t>
            </a:r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3C4A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22960" y="6419088"/>
            <a:ext cx="82296" cy="82296"/>
          </a:xfrm>
          <a:prstGeom prst="ellipse">
            <a:avLst/>
          </a:prstGeom>
          <a:solidFill>
            <a:srgbClr val="C9542D"/>
          </a:solidFill>
          <a:ln/>
        </p:spPr>
      </p:sp>
      <p:sp>
        <p:nvSpPr>
          <p:cNvPr id="12" name="Text 9"/>
          <p:cNvSpPr/>
          <p:nvPr/>
        </p:nvSpPr>
        <p:spPr>
          <a:xfrm>
            <a:off x="1005840" y="629107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6B76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FIGURA 3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9539935" y="62910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50" kern="0" dirty="0">
                <a:solidFill>
                  <a:srgbClr val="6B76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13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47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40" kern="0" dirty="0">
                <a:solidFill>
                  <a:srgbClr val="9BC7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 06 · RELACIÓN ENTRE VARIABLES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822960" y="960120"/>
            <a:ext cx="1143000" cy="25603"/>
          </a:xfrm>
          <a:prstGeom prst="rect">
            <a:avLst/>
          </a:prstGeom>
          <a:solidFill>
            <a:srgbClr val="C9542D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9BC7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COEFICIENTE DE CORRELACIÓN DE PEARSON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1280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i="1" dirty="0">
                <a:solidFill>
                  <a:srgbClr val="FB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=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2057400" y="1737360"/>
            <a:ext cx="36269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0" b="1" dirty="0">
                <a:solidFill>
                  <a:srgbClr val="F6C5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0.1721</a:t>
            </a:r>
            <a:endParaRPr lang="en-US" sz="7400" dirty="0"/>
          </a:p>
        </p:txBody>
      </p:sp>
      <p:sp>
        <p:nvSpPr>
          <p:cNvPr id="7" name="Text 5"/>
          <p:cNvSpPr/>
          <p:nvPr/>
        </p:nvSpPr>
        <p:spPr>
          <a:xfrm>
            <a:off x="822960" y="3246120"/>
            <a:ext cx="48614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i="1" dirty="0">
                <a:solidFill>
                  <a:srgbClr val="CFE1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Correlación positiva </a:t>
            </a:r>
            <a:pPr indent="0" marL="0">
              <a:lnSpc>
                <a:spcPct val="120000"/>
              </a:lnSpc>
              <a:buNone/>
            </a:pPr>
            <a:r>
              <a:rPr lang="en-US" sz="1700" b="1" i="1" dirty="0">
                <a:solidFill>
                  <a:srgbClr val="F6C5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muy débil</a:t>
            </a:r>
            <a:pPr indent="0" marL="0">
              <a:lnSpc>
                <a:spcPct val="120000"/>
              </a:lnSpc>
              <a:buNone/>
            </a:pPr>
            <a:r>
              <a:rPr lang="en-US" sz="1700" i="1" dirty="0">
                <a:solidFill>
                  <a:srgbClr val="CFE1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el tiempo de pantalla no explica de manera significativa el promedio académico.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" y="4617720"/>
            <a:ext cx="2331720" cy="384048"/>
          </a:xfrm>
          <a:prstGeom prst="rect">
            <a:avLst/>
          </a:prstGeom>
          <a:ln w="12700">
            <a:solidFill>
              <a:srgbClr val="9BC7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61772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BC7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|r| &lt; 0.20 · muy débil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91840" y="4617720"/>
            <a:ext cx="1874520" cy="384048"/>
          </a:xfrm>
          <a:prstGeom prst="rect">
            <a:avLst/>
          </a:prstGeom>
          <a:ln w="12700">
            <a:solidFill>
              <a:srgbClr val="9BC7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461772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BC7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0.20–0.40 · débil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22960" y="5120640"/>
            <a:ext cx="2331720" cy="384048"/>
          </a:xfrm>
          <a:prstGeom prst="rect">
            <a:avLst/>
          </a:prstGeom>
          <a:ln w="12700">
            <a:solidFill>
              <a:srgbClr val="9BC7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512064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BC7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0.40–0.70 · moderada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91840" y="5120640"/>
            <a:ext cx="1554480" cy="384048"/>
          </a:xfrm>
          <a:prstGeom prst="rect">
            <a:avLst/>
          </a:prstGeom>
          <a:ln w="12700">
            <a:solidFill>
              <a:srgbClr val="9BC7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51206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BC7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≥ 0.70 · fuerte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507328" y="1783080"/>
            <a:ext cx="41148" cy="1097280"/>
          </a:xfrm>
          <a:prstGeom prst="rect">
            <a:avLst/>
          </a:prstGeom>
          <a:solidFill>
            <a:srgbClr val="F6C5A5"/>
          </a:solidFill>
          <a:ln/>
        </p:spPr>
      </p:sp>
      <p:sp>
        <p:nvSpPr>
          <p:cNvPr id="17" name="Text 15"/>
          <p:cNvSpPr/>
          <p:nvPr/>
        </p:nvSpPr>
        <p:spPr>
          <a:xfrm>
            <a:off x="6735928" y="1783080"/>
            <a:ext cx="463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B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Relación débil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735928" y="2194560"/>
            <a:ext cx="4632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1E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Muchas horas no implican mejor (ni peor) promedio.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507328" y="3154680"/>
            <a:ext cx="41148" cy="1097280"/>
          </a:xfrm>
          <a:prstGeom prst="rect">
            <a:avLst/>
          </a:prstGeom>
          <a:solidFill>
            <a:srgbClr val="F6C5A5"/>
          </a:solidFill>
          <a:ln/>
        </p:spPr>
      </p:sp>
      <p:sp>
        <p:nvSpPr>
          <p:cNvPr id="20" name="Text 18"/>
          <p:cNvSpPr/>
          <p:nvPr/>
        </p:nvSpPr>
        <p:spPr>
          <a:xfrm>
            <a:off x="6735928" y="3154680"/>
            <a:ext cx="463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B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Otros factores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6735928" y="3566160"/>
            <a:ext cx="4632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1E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Hábitos de estudio, descanso y método de aprendizaje pesan más que el conteo de horas.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507328" y="4526280"/>
            <a:ext cx="41148" cy="1097280"/>
          </a:xfrm>
          <a:prstGeom prst="rect">
            <a:avLst/>
          </a:prstGeom>
          <a:solidFill>
            <a:srgbClr val="F6C5A5"/>
          </a:solidFill>
          <a:ln/>
        </p:spPr>
      </p:sp>
      <p:sp>
        <p:nvSpPr>
          <p:cNvPr id="23" name="Text 21"/>
          <p:cNvSpPr/>
          <p:nvPr/>
        </p:nvSpPr>
        <p:spPr>
          <a:xfrm>
            <a:off x="6735928" y="4526280"/>
            <a:ext cx="463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B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“qué” &gt; el “cuánto”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6735928" y="4937760"/>
            <a:ext cx="4632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1E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Distinguir uso académico vs. entretenimiento sería un siguiente paso natural.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22960" y="6419088"/>
            <a:ext cx="82296" cy="82296"/>
          </a:xfrm>
          <a:prstGeom prst="ellipse">
            <a:avLst/>
          </a:prstGeom>
          <a:solidFill>
            <a:srgbClr val="C9542D"/>
          </a:solidFill>
          <a:ln/>
        </p:spPr>
      </p:sp>
      <p:sp>
        <p:nvSpPr>
          <p:cNvPr id="26" name="Text 24"/>
          <p:cNvSpPr/>
          <p:nvPr/>
        </p:nvSpPr>
        <p:spPr>
          <a:xfrm>
            <a:off x="1005840" y="629107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9BC7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CORRELACIÓN · INTERPRETACIÓN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539935" y="62910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50" kern="0" dirty="0">
                <a:solidFill>
                  <a:srgbClr val="9BC7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13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40" kern="0" dirty="0">
                <a:solidFill>
                  <a:srgbClr val="0E5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 07 · CONCLUSIÓN Y SOLUCIÓN PROPUESTA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15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Cierre y propuesta.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143000" cy="25603"/>
          </a:xfrm>
          <a:prstGeom prst="rect">
            <a:avLst/>
          </a:prstGeom>
          <a:solidFill>
            <a:srgbClr val="15202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48840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E5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CONCLUSIÓN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22960" y="2560320"/>
            <a:ext cx="4998568" cy="868680"/>
          </a:xfrm>
          <a:prstGeom prst="rect">
            <a:avLst/>
          </a:prstGeom>
          <a:solidFill>
            <a:srgbClr val="FBF8F1"/>
          </a:solidFill>
          <a:ln w="12700">
            <a:solidFill>
              <a:srgbClr val="D9CFB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560320"/>
            <a:ext cx="45720" cy="868680"/>
          </a:xfrm>
          <a:prstGeom prst="rect">
            <a:avLst/>
          </a:prstGeom>
          <a:solidFill>
            <a:srgbClr val="0E5C5C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560320"/>
            <a:ext cx="4495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5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</a:t>
            </a:r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5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celular</a:t>
            </a:r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5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es el dispositivo predominante en la jornada estudiantil.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3584448"/>
            <a:ext cx="4998568" cy="868680"/>
          </a:xfrm>
          <a:prstGeom prst="rect">
            <a:avLst/>
          </a:prstGeom>
          <a:solidFill>
            <a:srgbClr val="FBF8F1"/>
          </a:solidFill>
          <a:ln w="12700">
            <a:solidFill>
              <a:srgbClr val="D9CFB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3584448"/>
            <a:ext cx="45720" cy="868680"/>
          </a:xfrm>
          <a:prstGeom prst="rect">
            <a:avLst/>
          </a:prstGeom>
          <a:solidFill>
            <a:srgbClr val="C9542D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584448"/>
            <a:ext cx="4495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5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pesar de la alta exposición, su relación con el promedio es </a:t>
            </a:r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5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débil</a:t>
            </a:r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5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(r = 0.17).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2960" y="4608576"/>
            <a:ext cx="4998568" cy="868680"/>
          </a:xfrm>
          <a:prstGeom prst="rect">
            <a:avLst/>
          </a:prstGeom>
          <a:solidFill>
            <a:srgbClr val="FBF8F1"/>
          </a:solidFill>
          <a:ln w="12700">
            <a:solidFill>
              <a:srgbClr val="D9CFB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4608576"/>
            <a:ext cx="45720" cy="868680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4608576"/>
            <a:ext cx="4495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5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rendimiento depende de </a:t>
            </a:r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5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múltiples factores</a:t>
            </a:r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5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no solo del tiempo en pantalla.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70168" y="2148840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954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SOLUCIÓN PROPUESTA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370168" y="2496312"/>
            <a:ext cx="4998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5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5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 de hábitos digitales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5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que cruce uso de pantallas con desempeño y devuelva recomendaciones individuales.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70168" y="38404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54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90208" y="3822192"/>
            <a:ext cx="467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Registro pasivo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90208" y="4096512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C4A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Tiempo de uso por app y dispositivo, sin fricción.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70168" y="444398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54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90208" y="4425696"/>
            <a:ext cx="467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Cruce con desempeño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690208" y="4700016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C4A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Vincula bloques de uso con franjas de estudio y resultados.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70168" y="504748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54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690208" y="5029200"/>
            <a:ext cx="467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Recomendaciones individuales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690208" y="5303520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C4A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Sugerencias adaptadas a partir del análisis estadístico.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370168" y="5669280"/>
            <a:ext cx="1874520" cy="329184"/>
          </a:xfrm>
          <a:prstGeom prst="roundRect">
            <a:avLst>
              <a:gd name="adj" fmla="val 50000"/>
            </a:avLst>
          </a:prstGeom>
          <a:ln w="12700">
            <a:solidFill>
              <a:srgbClr val="1520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70168" y="566928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1520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· PANDAS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381848" y="5669280"/>
            <a:ext cx="1417320" cy="329184"/>
          </a:xfrm>
          <a:prstGeom prst="roundRect">
            <a:avLst>
              <a:gd name="adj" fmla="val 50000"/>
            </a:avLst>
          </a:prstGeom>
          <a:ln w="12700">
            <a:solidFill>
              <a:srgbClr val="1520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81848" y="566928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1520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SCIKIT-LEARN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370168" y="6108192"/>
            <a:ext cx="1188720" cy="329184"/>
          </a:xfrm>
          <a:prstGeom prst="roundRect">
            <a:avLst>
              <a:gd name="adj" fmla="val 50000"/>
            </a:avLst>
          </a:prstGeom>
          <a:ln w="12700">
            <a:solidFill>
              <a:srgbClr val="1520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70168" y="610819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1520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696048" y="6108192"/>
            <a:ext cx="1600200" cy="329184"/>
          </a:xfrm>
          <a:prstGeom prst="roundRect">
            <a:avLst>
              <a:gd name="adj" fmla="val 50000"/>
            </a:avLst>
          </a:prstGeom>
          <a:ln w="12700">
            <a:solidFill>
              <a:srgbClr val="15202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96048" y="6108192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1520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 NATIVE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22960" y="6419088"/>
            <a:ext cx="82296" cy="82296"/>
          </a:xfrm>
          <a:prstGeom prst="ellipse">
            <a:avLst/>
          </a:prstGeom>
          <a:solidFill>
            <a:srgbClr val="C9542D"/>
          </a:solidFill>
          <a:ln/>
        </p:spPr>
      </p:sp>
      <p:sp>
        <p:nvSpPr>
          <p:cNvPr id="35" name="Text 33"/>
          <p:cNvSpPr/>
          <p:nvPr/>
        </p:nvSpPr>
        <p:spPr>
          <a:xfrm>
            <a:off x="1005840" y="629107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6B76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CONCLUSIÓN · PROPUESTA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9539935" y="62910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50" kern="0" dirty="0">
                <a:solidFill>
                  <a:srgbClr val="6B76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13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40" kern="0" dirty="0">
                <a:solidFill>
                  <a:srgbClr val="0E5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 08 · ¿POR QUÉ IMPORTA AL INGENIERO EN COMPUTACIÓN?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15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 datos nos ayudan a diseñar tecnología útil y fundamentada en evidencia.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1143000" cy="25603"/>
          </a:xfrm>
          <a:prstGeom prst="rect">
            <a:avLst/>
          </a:prstGeom>
          <a:solidFill>
            <a:srgbClr val="15202B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240280"/>
            <a:ext cx="3271418" cy="2834640"/>
          </a:xfrm>
          <a:prstGeom prst="rect">
            <a:avLst/>
          </a:prstGeom>
          <a:solidFill>
            <a:srgbClr val="FBF8F1"/>
          </a:solidFill>
          <a:ln w="12700">
            <a:solidFill>
              <a:srgbClr val="D9CFB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514600"/>
            <a:ext cx="27227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954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DISEÑO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" y="2807208"/>
            <a:ext cx="272277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15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Decisiones basadas en datos.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3703320"/>
            <a:ext cx="272277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C4A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</a:t>
            </a:r>
            <a:pPr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celular es preferido por casi la mitad</a:t>
            </a:r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C4A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de los estudiantes — futuras plataformas deben enfocarse en entornos </a:t>
            </a:r>
            <a:pPr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móviles</a:t>
            </a:r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C4A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60138" y="2240280"/>
            <a:ext cx="3271418" cy="2834640"/>
          </a:xfrm>
          <a:prstGeom prst="rect">
            <a:avLst/>
          </a:prstGeom>
          <a:solidFill>
            <a:srgbClr val="FBF8F1"/>
          </a:solidFill>
          <a:ln w="12700">
            <a:solidFill>
              <a:srgbClr val="D9CF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34458" y="2514600"/>
            <a:ext cx="27227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954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REALIDAD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34458" y="2807208"/>
            <a:ext cx="272277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15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Soluciones apegadas a la realidad.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34458" y="3703320"/>
            <a:ext cx="272277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C4A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 relación tiempo–calificación es </a:t>
            </a:r>
            <a:pPr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débil</a:t>
            </a:r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C4A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: no basta con restringir el uso; hay que considerar hábitos de estudio y organización personal.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97317" y="2240280"/>
            <a:ext cx="3271418" cy="2834640"/>
          </a:xfrm>
          <a:prstGeom prst="rect">
            <a:avLst/>
          </a:prstGeom>
          <a:solidFill>
            <a:srgbClr val="0A4747"/>
          </a:solidFill>
          <a:ln/>
        </p:spPr>
      </p:sp>
      <p:sp>
        <p:nvSpPr>
          <p:cNvPr id="14" name="Text 12"/>
          <p:cNvSpPr/>
          <p:nvPr/>
        </p:nvSpPr>
        <p:spPr>
          <a:xfrm>
            <a:off x="8371637" y="2514600"/>
            <a:ext cx="27227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6C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PROYECTOS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371637" y="2807208"/>
            <a:ext cx="272277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FB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Punto de partida para software con impacto.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371637" y="3703320"/>
            <a:ext cx="272277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CFE1E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Los hallazgos justifican </a:t>
            </a:r>
            <a:pPr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F6C5A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una app que monitoree hábitos digitales</a:t>
            </a:r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CFE1E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y sugiera cómo equilibrar tecnología y vida académica.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5257800"/>
            <a:ext cx="10545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i="1" dirty="0">
                <a:solidFill>
                  <a:srgbClr val="3C4A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 síntesis: la labor del ingeniero en computación va más allá de programar — consiste en </a:t>
            </a:r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entender al usuario a través de los datos</a:t>
            </a:r>
            <a:pPr indent="0" marL="0">
              <a:lnSpc>
                <a:spcPct val="118000"/>
              </a:lnSpc>
              <a:buNone/>
            </a:pPr>
            <a:r>
              <a:rPr lang="en-US" sz="1700" i="1" dirty="0">
                <a:solidFill>
                  <a:srgbClr val="3C4A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para construir sistemas que resuelvan necesidades reales.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822960" y="6419088"/>
            <a:ext cx="82296" cy="82296"/>
          </a:xfrm>
          <a:prstGeom prst="ellipse">
            <a:avLst/>
          </a:prstGeom>
          <a:solidFill>
            <a:srgbClr val="C9542D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629107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6B76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IMPORTANCIA · ING. EN COMPUTACIÓN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9539935" y="62910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50" kern="0" dirty="0">
                <a:solidFill>
                  <a:srgbClr val="6B76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13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Probabilidad — Equipo 1</dc:title>
  <dc:subject>PptxGenJS Presentation</dc:subject>
  <dc:creator>Equipo 1</dc:creator>
  <cp:lastModifiedBy>Equipo 1</cp:lastModifiedBy>
  <cp:revision>1</cp:revision>
  <dcterms:created xsi:type="dcterms:W3CDTF">2026-05-27T16:06:41Z</dcterms:created>
  <dcterms:modified xsi:type="dcterms:W3CDTF">2026-05-27T16:06:41Z</dcterms:modified>
</cp:coreProperties>
</file>